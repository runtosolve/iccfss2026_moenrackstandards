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  <p:sldId id="257" r:id="rId2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FA8"/>
    <a:srgbClr val="0874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E65A98-162B-8C57-FE02-DA3D907907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B1123D-8EC0-C1B6-1160-62DCCDDF36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384AB1-3452-41D5-9BBB-3BAEF5AB899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5890DC-3367-3871-674B-93E268EAEE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46C46A-80E2-A4DD-469C-F4591D68FD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2B38A-BC81-482C-BCA7-19C20F102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061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38FF9F-1BF5-4123-9A23-02921708A831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12069-9100-411E-9588-33644A5F9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437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08DAE-CFEE-99C4-44A6-5A694DAA2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08131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78F74-762E-9C27-82FD-5A8E77495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87806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887CD-A8EA-B243-A004-166ECEDEE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pic>
        <p:nvPicPr>
          <p:cNvPr id="8" name="Picture 7" descr="Cold-Formed Steel&#10;&#10;AI-generated content may be incorrect.">
            <a:extLst>
              <a:ext uri="{FF2B5EF4-FFF2-40B4-BE49-F238E27FC236}">
                <a16:creationId xmlns:a16="http://schemas.microsoft.com/office/drawing/2014/main" id="{73B50397-621F-0A90-DDDB-C8ABA2C91B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53" y="85726"/>
            <a:ext cx="7693247" cy="136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093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6A81D-B27B-00BB-8666-8ABDB94A5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EA328-B6E2-56B9-C925-8132D1E99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52D08-6AAB-B37D-B3F2-C4A567DE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AF7D3-2F37-B875-3792-6E81FD069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931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7BAA8-D549-DA15-3960-CB6601BF7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0FF8C-757E-8682-94BF-3B2E95C1C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F156A-AEEA-994F-6B7D-E514FA0CA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pic>
        <p:nvPicPr>
          <p:cNvPr id="8" name="Picture 7" descr="Cold-Formed Steel&#10;&#10;AI-generated content may be incorrect.">
            <a:extLst>
              <a:ext uri="{FF2B5EF4-FFF2-40B4-BE49-F238E27FC236}">
                <a16:creationId xmlns:a16="http://schemas.microsoft.com/office/drawing/2014/main" id="{E6DC0FBD-8622-85E9-79F2-EE1DFD1A40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00"/>
          <a:stretch>
            <a:fillRect/>
          </a:stretch>
        </p:blipFill>
        <p:spPr>
          <a:xfrm>
            <a:off x="193454" y="6174371"/>
            <a:ext cx="638396" cy="62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476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0E79E-DD42-8033-0422-E2404A77F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57DFA-DA34-2F5A-BEFB-8DB21AA185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DE6C8-AB43-D605-EE47-D04BD18AE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11DAE-CA84-A9DC-73DC-35055A63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6E5FF-65DC-3E65-FAF8-0583EC19B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76784-F3C3-0D34-D4B3-03B01CA6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125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4B238-E20E-C0D9-CF85-0A23E79DE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2424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94CD5-61B6-DF3D-79DF-9ED69121D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46B3D-A775-B72C-B19C-CE664C515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BC9E5F-D4B0-F22E-D068-4899346C3F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8A1DB9-7B13-3618-3D24-B6148E7748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25EE39-1B24-1477-0254-C1D40106C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A37AF6-C444-5728-4EF5-B8DC15DF4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C45EE5-F724-6E7D-4D1B-172674732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477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342EF-52C4-965D-D31E-3AC046CA1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A16EB1-25B9-5DE5-A0CA-28C3A72C2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A12E69-6A8C-9811-0F84-907E444C3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9CCAC9-C194-3672-CFBF-AADCF3F0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69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96204F-971A-A858-39B9-BFEA1ECF3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0C762C-A5BB-74F4-8F07-56FF6700B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E6A67-9D15-A684-0785-5C2C46DD5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3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7A99B-CDAC-F97B-6661-A0D86AD81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150E7-70B9-8C06-F075-C531C9A57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046BC-305D-DFFF-CC88-2E5EDE518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9F122-7A63-C1BF-101A-AECE3FCF5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C06BD-F27B-1E43-5781-4CBDBBBA9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BD21A-05B9-B90D-C33C-8A3D7460E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86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A85F8-AAA6-4BFE-F641-4DDC7AEE0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87D4A3-6A64-8AA7-E02E-EF0568DFA3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40308" y="1307306"/>
            <a:ext cx="5824651" cy="45537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243B3-6413-8765-F2D9-0BB975133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72A27-C22B-275C-A52D-0A17EF877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469A3-9FDF-4A76-0D92-BF5D0A021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988D1-F4E1-6F2B-A826-62CE68199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293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08C19-62B4-5FB4-78E7-5AE04EC68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3BA005-18D7-C0BB-6886-EA78ACA6A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52303-05A2-5C22-541A-A56644D4E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9246B-5265-8668-CCF9-2A97D0310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6E939-34D8-14EC-B8B7-1A47D6E91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852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8FF84B-41D3-5F49-9C4A-ED19DAB363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E7121-D71A-2DA6-F17A-B09E48271D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F9895-0F1B-5962-6075-4A823CF23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4FA8A-C72B-5D45-5AA2-E833D6E11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9A72B-9065-DC28-86A8-C3EA612B2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576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9476D2-BFAB-9135-5836-EAD5441F8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BF91F-AA9B-C34D-6D98-1780DFE33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413C0-59C8-A5AA-76AB-3247940770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October 6-7,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28459-E482-B65C-5325-4996C291E3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A16FD-DAE2-40DB-93E0-E6B4CFE92310}" type="slidenum">
              <a:rPr lang="en-US" smtClean="0"/>
              <a:pPr/>
              <a:t>‹#›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8322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solidFill>
                  <a:srgbClr val="0E2841"/>
                </a:solidFill>
              </a:rPr>
              <a:t>Recent updates to ANSI MH16.1: perforated rack member design and the Direct Strength Method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0" sz="2200">
                <a:solidFill>
                  <a:srgbClr val="0E2841"/>
                </a:solidFill>
              </a:rPr>
              <a:t>Cristopher D. Moen</a:t>
            </a:r>
          </a:p>
          <a:p>
            <a:r>
              <a:rPr b="0" sz="1800">
                <a:solidFill>
                  <a:srgbClr val="4B5666"/>
                </a:solidFill>
              </a:rPr>
              <a:t>RunToSolve LLC</a:t>
            </a:r>
          </a:p>
          <a:p>
            <a:r>
              <a:rPr b="0" sz="1400">
                <a:solidFill>
                  <a:srgbClr val="4B5666"/>
                </a:solidFill>
              </a:rPr>
              <a:t>Wei-Wen Yu International Specialty Conference on Cold-Formed Steel Structures, Madison, Wisconsin</a:t>
            </a:r>
          </a:p>
        </p:txBody>
      </p:sp>
      <p:pic>
        <p:nvPicPr>
          <p:cNvPr id="4" name="Picture 3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512064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644652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900">
                <a:solidFill>
                  <a:srgbClr val="4B5666"/>
                </a:solidFill>
              </a:rPr>
              <a:t>runtosolve.github.io/ICCFSS2026_MoenRackStandards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887CD-A8EA-B243-A004-166ECEDEE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October 6–7,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E2841"/>
                </a:solidFill>
              </a:rPr>
              <a:t>Three editions of MH16.1 in eleven years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737360"/>
            <a:ext cx="10515600" cy="2286000"/>
          </a:xfrm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b="1" sz="1700"/>
              <a:t>ANSI MH16.1</a:t>
            </a:r>
            <a:r>
              <a:rPr b="0" sz="1700"/>
              <a:t> (RMI) is the specification for industrial steel storage racks, referenced by ASCE 7 §15.5.3 and the IBC</a:t>
            </a:r>
          </a:p>
          <a:p>
            <a:pPr>
              <a:spcAft>
                <a:spcPts val="400"/>
              </a:spcAft>
            </a:pPr>
            <a:r>
              <a:rPr b="0" sz="1700"/>
              <a:t>Rack uprights are roll-formed, thin, open, and </a:t>
            </a:r>
            <a:r>
              <a:rPr b="1" sz="1700"/>
              <a:t>perforated along their full length</a:t>
            </a:r>
            <a:r>
              <a:rPr b="0" sz="1700"/>
              <a:t>, so local, distortional, and global buckling interact</a:t>
            </a:r>
          </a:p>
          <a:p>
            <a:pPr>
              <a:spcAft>
                <a:spcPts val="400"/>
              </a:spcAft>
            </a:pPr>
            <a:r>
              <a:rPr b="0" sz="1700"/>
              <a:t>The 2021 edition rewrote the member design chapter around elastic buckling analysis; the 2023 edition kept it</a:t>
            </a:r>
          </a:p>
          <a:p>
            <a:pPr>
              <a:spcAft>
                <a:spcPts val="400"/>
              </a:spcAft>
            </a:pPr>
            <a:r>
              <a:rPr b="0" sz="1700"/>
              <a:t>This talk: what changed from 2012 to 2023 and where the Direct Strength Method enters</a:t>
            </a:r>
          </a:p>
        </p:txBody>
      </p:sp>
      <p:pic>
        <p:nvPicPr>
          <p:cNvPr id="4" name="Picture 3" descr="fig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247" y="4389120"/>
            <a:ext cx="9303026" cy="164592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52D08-6AAB-B37D-B3F2-C4A567DE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October 6–7,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AF7D3-2F37-B875-3792-6E81FD069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E2841"/>
                </a:solidFill>
              </a:rPr>
              <a:t>MH16.1-2012: effective area and the stub-column Q factor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825625"/>
            <a:ext cx="5181600" cy="2820924"/>
          </a:xfrm>
          <a:prstGeom prst="rect">
            <a:avLst/>
          </a:prstGeom>
          <a:solidFill>
            <a:srgbClr val="EEF1F5"/>
          </a:solidFill>
          <a:ln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3920" y="1880489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0E2841"/>
                </a:solidFill>
              </a:rPr>
              <a:t>Compression (§4.1.3.1)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3920" y="2282825"/>
            <a:ext cx="509016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b="0" sz="1500">
                <a:solidFill>
                  <a:srgbClr val="2B3648"/>
                </a:solidFill>
              </a:rPr>
              <a:t>•  Effective area from the stub-column test:</a:t>
            </a:r>
          </a:p>
        </p:txBody>
      </p:sp>
      <p:pic>
        <p:nvPicPr>
          <p:cNvPr id="6" name="Picture 5" descr="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0" y="2602865"/>
            <a:ext cx="3995928" cy="8641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3920" y="3540125"/>
            <a:ext cx="509016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b="0" sz="1500">
                <a:solidFill>
                  <a:srgbClr val="2B3648"/>
                </a:solidFill>
              </a:rPr>
              <a:t>•  P</a:t>
            </a:r>
            <a:r>
              <a:rPr baseline="-25000" b="0" sz="1500">
                <a:solidFill>
                  <a:srgbClr val="2B3648"/>
                </a:solidFill>
              </a:rPr>
              <a:t>n</a:t>
            </a:r>
            <a:r>
              <a:rPr b="0" sz="1500">
                <a:solidFill>
                  <a:srgbClr val="2B3648"/>
                </a:solidFill>
              </a:rPr>
              <a:t> = A</a:t>
            </a:r>
            <a:r>
              <a:rPr baseline="-25000" b="0" sz="1500">
                <a:solidFill>
                  <a:srgbClr val="2B3648"/>
                </a:solidFill>
              </a:rPr>
              <a:t>e</a:t>
            </a:r>
            <a:r>
              <a:rPr b="0" sz="1500">
                <a:solidFill>
                  <a:srgbClr val="2B3648"/>
                </a:solidFill>
              </a:rPr>
              <a:t> F</a:t>
            </a:r>
            <a:r>
              <a:rPr baseline="-25000" b="0" sz="1500">
                <a:solidFill>
                  <a:srgbClr val="2B3648"/>
                </a:solidFill>
              </a:rPr>
              <a:t>n</a:t>
            </a:r>
            <a:r>
              <a:rPr b="0" sz="1500">
                <a:solidFill>
                  <a:srgbClr val="2B3648"/>
                </a:solidFill>
              </a:rPr>
              <a:t>, with F</a:t>
            </a:r>
            <a:r>
              <a:rPr baseline="-25000" b="0" sz="1500">
                <a:solidFill>
                  <a:srgbClr val="2B3648"/>
                </a:solidFill>
              </a:rPr>
              <a:t>n</a:t>
            </a:r>
            <a:r>
              <a:rPr b="0" sz="1500">
                <a:solidFill>
                  <a:srgbClr val="2B3648"/>
                </a:solidFill>
              </a:rPr>
              <a:t> from AISI S100 on the </a:t>
            </a:r>
            <a:r>
              <a:rPr b="1" sz="1500">
                <a:solidFill>
                  <a:srgbClr val="2B3648"/>
                </a:solidFill>
              </a:rPr>
              <a:t>gross, unperforated</a:t>
            </a:r>
            <a:r>
              <a:rPr b="0" sz="1500">
                <a:solidFill>
                  <a:srgbClr val="2B3648"/>
                </a:solidFill>
              </a:rPr>
              <a:t> section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3920" y="4070477"/>
            <a:ext cx="509016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b="0" sz="1500">
                <a:solidFill>
                  <a:srgbClr val="2B3648"/>
                </a:solidFill>
              </a:rPr>
              <a:t>•  Q = stub column strength / (F</a:t>
            </a:r>
            <a:r>
              <a:rPr baseline="-25000" b="0" sz="1500">
                <a:solidFill>
                  <a:srgbClr val="2B3648"/>
                </a:solidFill>
              </a:rPr>
              <a:t>y</a:t>
            </a:r>
            <a:r>
              <a:rPr b="0" sz="1500">
                <a:solidFill>
                  <a:srgbClr val="2B3648"/>
                </a:solidFill>
              </a:rPr>
              <a:t> A</a:t>
            </a:r>
            <a:r>
              <a:rPr baseline="-25000" b="0" sz="1500">
                <a:solidFill>
                  <a:srgbClr val="2B3648"/>
                </a:solidFill>
              </a:rPr>
              <a:t>net,min</a:t>
            </a:r>
            <a:r>
              <a:rPr b="0" sz="1500">
                <a:solidFill>
                  <a:srgbClr val="2B3648"/>
                </a:solidFill>
              </a:rPr>
              <a:t>) ≤ 1  (§9.2.2)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825625"/>
            <a:ext cx="5181600" cy="1473708"/>
          </a:xfrm>
          <a:prstGeom prst="rect">
            <a:avLst/>
          </a:prstGeom>
          <a:solidFill>
            <a:srgbClr val="EEF1F5"/>
          </a:solidFill>
          <a:ln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880489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0E2841"/>
                </a:solidFill>
              </a:rPr>
              <a:t>Flexure (§4.1.2)</a:t>
            </a:r>
          </a:p>
        </p:txBody>
      </p:sp>
      <p:pic>
        <p:nvPicPr>
          <p:cNvPr id="11" name="Picture 10" descr="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301113"/>
            <a:ext cx="2717292" cy="3489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2723261"/>
            <a:ext cx="509016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b="0" sz="1500">
                <a:solidFill>
                  <a:srgbClr val="2B3648"/>
                </a:solidFill>
              </a:rPr>
              <a:t>•  Round corners for A and I; sharp corners permitted for J, C</a:t>
            </a:r>
            <a:r>
              <a:rPr baseline="-25000" b="0" sz="1500">
                <a:solidFill>
                  <a:srgbClr val="2B3648"/>
                </a:solidFill>
              </a:rPr>
              <a:t>w</a:t>
            </a:r>
            <a:r>
              <a:rPr b="0" sz="1500">
                <a:solidFill>
                  <a:srgbClr val="2B3648"/>
                </a:solidFill>
              </a:rPr>
              <a:t>, r</a:t>
            </a:r>
            <a:r>
              <a:rPr baseline="-25000" b="0" sz="1500">
                <a:solidFill>
                  <a:srgbClr val="2B3648"/>
                </a:solidFill>
              </a:rPr>
              <a:t>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482213"/>
            <a:ext cx="5181600" cy="1335024"/>
          </a:xfrm>
          <a:prstGeom prst="rect">
            <a:avLst/>
          </a:prstGeom>
          <a:solidFill>
            <a:srgbClr val="EEF1F5"/>
          </a:solidFill>
          <a:ln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3537077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0E2841"/>
                </a:solidFill>
              </a:rPr>
              <a:t>Distortional (§4.1.3.2)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939413"/>
            <a:ext cx="509016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b="0" sz="1500">
                <a:solidFill>
                  <a:srgbClr val="2B3648"/>
                </a:solidFill>
              </a:rPr>
              <a:t>•  One sentence: certain open sections "shall be checked … by testing or rational analysis"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469765"/>
            <a:ext cx="509016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b="0" sz="1500">
                <a:solidFill>
                  <a:srgbClr val="2B3648"/>
                </a:solidFill>
              </a:rPr>
              <a:t>•  No equations, no elastic buckling 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400">
                <a:solidFill>
                  <a:srgbClr val="4B5666"/>
                </a:solidFill>
              </a:rPr>
              <a:t>Frame stability by the effective length method: down-aisle K</a:t>
            </a:r>
            <a:r>
              <a:rPr baseline="-25000" b="0" sz="1400">
                <a:solidFill>
                  <a:srgbClr val="4B5666"/>
                </a:solidFill>
              </a:rPr>
              <a:t>x</a:t>
            </a:r>
            <a:r>
              <a:rPr b="0" sz="1400">
                <a:solidFill>
                  <a:srgbClr val="4B5666"/>
                </a:solidFill>
              </a:rPr>
              <a:t> = 1.7 for unbraced racks, K</a:t>
            </a:r>
            <a:r>
              <a:rPr baseline="-25000" b="0" sz="1400">
                <a:solidFill>
                  <a:srgbClr val="4B5666"/>
                </a:solidFill>
              </a:rPr>
              <a:t>t</a:t>
            </a:r>
            <a:r>
              <a:rPr b="0" sz="1400">
                <a:solidFill>
                  <a:srgbClr val="4B5666"/>
                </a:solidFill>
              </a:rPr>
              <a:t> = 0.8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11DAE-CA84-A9DC-73DC-35055A63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October 6–7,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76784-F3C3-0D34-D4B3-03B01CA6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E2841"/>
                </a:solidFill>
              </a:rPr>
              <a:t>MH16.1-2021 §8.2.1: perforations become reduced-thickness strips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825625"/>
            <a:ext cx="5181600" cy="73151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b="0" sz="1600">
                <a:solidFill>
                  <a:srgbClr val="2B3648"/>
                </a:solidFill>
              </a:rPr>
              <a:t>•  Section properties use </a:t>
            </a:r>
            <a:r>
              <a:rPr b="1" sz="1600">
                <a:solidFill>
                  <a:srgbClr val="2B3648"/>
                </a:solidFill>
              </a:rPr>
              <a:t>round corners</a:t>
            </a:r>
            <a:r>
              <a:rPr b="0" sz="1600">
                <a:solidFill>
                  <a:srgbClr val="2B3648"/>
                </a:solidFill>
              </a:rPr>
              <a:t> for everything, including J and C</a:t>
            </a:r>
            <a:r>
              <a:rPr baseline="-25000" b="0" sz="1600">
                <a:solidFill>
                  <a:srgbClr val="2B3648"/>
                </a:solidFill>
              </a:rPr>
              <a:t>w</a:t>
            </a:r>
            <a:r>
              <a:rPr b="0" sz="1600">
                <a:solidFill>
                  <a:srgbClr val="2B3648"/>
                </a:solidFill>
              </a:rPr>
              <a:t> (sharp corners are unconservative for torsion)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630296"/>
            <a:ext cx="5181600" cy="73151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b="0" sz="1600">
                <a:solidFill>
                  <a:srgbClr val="2B3648"/>
                </a:solidFill>
              </a:rPr>
              <a:t>•  Each strip of web or flange that contains perforations is replaced by a solid strip of reduced thickness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434967"/>
            <a:ext cx="5181600" cy="2438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b="0" sz="1600">
                <a:solidFill>
                  <a:srgbClr val="2B3648"/>
                </a:solidFill>
              </a:rPr>
              <a:t>•  </a:t>
            </a:r>
            <a:r>
              <a:rPr b="1" sz="1600">
                <a:solidFill>
                  <a:srgbClr val="2B3648"/>
                </a:solidFill>
              </a:rPr>
              <a:t>Global and local</a:t>
            </a:r>
            <a:r>
              <a:rPr b="0" sz="1600">
                <a:solidFill>
                  <a:srgbClr val="2B3648"/>
                </a:solidFill>
              </a:rPr>
              <a:t> buckling, k</a:t>
            </a:r>
            <a:r>
              <a:rPr baseline="-25000" b="0" sz="1600">
                <a:solidFill>
                  <a:srgbClr val="2B3648"/>
                </a:solidFill>
              </a:rPr>
              <a:t>g</a:t>
            </a:r>
            <a:r>
              <a:rPr b="0" sz="1600">
                <a:solidFill>
                  <a:srgbClr val="2B3648"/>
                </a:solidFill>
              </a:rPr>
              <a:t> = 0.6:</a:t>
            </a:r>
          </a:p>
        </p:txBody>
      </p:sp>
      <p:pic>
        <p:nvPicPr>
          <p:cNvPr id="6" name="Picture 5" descr="t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" y="3770247"/>
            <a:ext cx="1808988" cy="7071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8200" y="4550535"/>
            <a:ext cx="5181600" cy="2438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b="0" sz="1600">
                <a:solidFill>
                  <a:srgbClr val="2B3648"/>
                </a:solidFill>
              </a:rPr>
              <a:t>•  </a:t>
            </a:r>
            <a:r>
              <a:rPr b="1" sz="1600">
                <a:solidFill>
                  <a:srgbClr val="2B3648"/>
                </a:solidFill>
              </a:rPr>
              <a:t>Distortional</a:t>
            </a:r>
            <a:r>
              <a:rPr b="0" sz="1600">
                <a:solidFill>
                  <a:srgbClr val="2B3648"/>
                </a:solidFill>
              </a:rPr>
              <a:t> buckling, k</a:t>
            </a:r>
            <a:r>
              <a:rPr baseline="-25000" b="0" sz="1600">
                <a:solidFill>
                  <a:srgbClr val="2B3648"/>
                </a:solidFill>
              </a:rPr>
              <a:t>d</a:t>
            </a:r>
            <a:r>
              <a:rPr b="0" sz="1600">
                <a:solidFill>
                  <a:srgbClr val="2B3648"/>
                </a:solidFill>
              </a:rPr>
              <a:t> = 0.8:</a:t>
            </a:r>
          </a:p>
        </p:txBody>
      </p:sp>
      <p:pic>
        <p:nvPicPr>
          <p:cNvPr id="8" name="Picture 7" descr="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4885815"/>
            <a:ext cx="2083308" cy="7726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8200" y="5731635"/>
            <a:ext cx="5181600" cy="4876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b="0" sz="1600">
                <a:solidFill>
                  <a:srgbClr val="2B3648"/>
                </a:solidFill>
              </a:rPr>
              <a:t>•  L</a:t>
            </a:r>
            <a:r>
              <a:rPr baseline="-25000" b="0" sz="1600">
                <a:solidFill>
                  <a:srgbClr val="2B3648"/>
                </a:solidFill>
              </a:rPr>
              <a:t>np</a:t>
            </a:r>
            <a:r>
              <a:rPr b="0" sz="1600">
                <a:solidFill>
                  <a:srgbClr val="2B3648"/>
                </a:solidFill>
              </a:rPr>
              <a:t> is the solid length between holes, L the pitch</a:t>
            </a:r>
          </a:p>
        </p:txBody>
      </p:sp>
      <p:pic>
        <p:nvPicPr>
          <p:cNvPr id="10" name="Picture 9" descr="fig_stri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825625"/>
            <a:ext cx="5181600" cy="222680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72200" y="4098148"/>
            <a:ext cx="518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4B5666"/>
                </a:solidFill>
              </a:rPr>
              <a:t>Source: ANSI MH16.1-2023, Figure 8.2-1, example of perforation strips in a column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4751705"/>
            <a:ext cx="518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500"/>
              <a:t>•  One idealized section feeds the frame model (§7.2.4), the global buckling check, and the finite strip model for P</a:t>
            </a:r>
            <a:r>
              <a:rPr baseline="-25000" b="0" sz="1500"/>
              <a:t>crd</a:t>
            </a:r>
            <a:r>
              <a:rPr b="0" sz="1500"/>
              <a:t> and M</a:t>
            </a:r>
            <a:r>
              <a:rPr baseline="-25000" b="0" sz="1500"/>
              <a:t>crd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11DAE-CA84-A9DC-73DC-35055A63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October 6–7,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76784-F3C3-0D34-D4B3-03B01CA6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E2841"/>
                </a:solidFill>
              </a:rPr>
              <a:t>MH16.1-2021/2023 §8.2.2: perforated compression members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642745"/>
            <a:ext cx="5181600" cy="1868856"/>
          </a:xfrm>
          <a:prstGeom prst="rect">
            <a:avLst/>
          </a:prstGeom>
          <a:solidFill>
            <a:srgbClr val="EEF1F5"/>
          </a:solidFill>
          <a:ln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3920" y="1697609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0E2841"/>
                </a:solidFill>
              </a:rPr>
              <a:t>Global (8.2-3, 8.2-4)</a:t>
            </a:r>
          </a:p>
        </p:txBody>
      </p:sp>
      <p:pic>
        <p:nvPicPr>
          <p:cNvPr id="5" name="Picture 4" descr="p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0" y="2118233"/>
            <a:ext cx="4815840" cy="972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3920" y="3164129"/>
            <a:ext cx="509016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b="0" sz="1500">
                <a:solidFill>
                  <a:srgbClr val="2B3648"/>
                </a:solidFill>
              </a:rPr>
              <a:t>P</a:t>
            </a:r>
            <a:r>
              <a:rPr baseline="-25000" b="0" sz="1500">
                <a:solidFill>
                  <a:srgbClr val="2B3648"/>
                </a:solidFill>
              </a:rPr>
              <a:t>y</a:t>
            </a:r>
            <a:r>
              <a:rPr b="0" sz="1500">
                <a:solidFill>
                  <a:srgbClr val="2B3648"/>
                </a:solidFill>
              </a:rPr>
              <a:t> = F</a:t>
            </a:r>
            <a:r>
              <a:rPr baseline="-25000" b="0" sz="1500">
                <a:solidFill>
                  <a:srgbClr val="2B3648"/>
                </a:solidFill>
              </a:rPr>
              <a:t>y</a:t>
            </a:r>
            <a:r>
              <a:rPr b="0" sz="1500">
                <a:solidFill>
                  <a:srgbClr val="2B3648"/>
                </a:solidFill>
              </a:rPr>
              <a:t> A</a:t>
            </a:r>
            <a:r>
              <a:rPr baseline="-25000" b="0" sz="1500">
                <a:solidFill>
                  <a:srgbClr val="2B3648"/>
                </a:solidFill>
              </a:rPr>
              <a:t>netg</a:t>
            </a:r>
            <a:r>
              <a:rPr b="0" sz="1500">
                <a:solidFill>
                  <a:srgbClr val="2B3648"/>
                </a:solidFill>
              </a:rPr>
              <a:t>; P</a:t>
            </a:r>
            <a:r>
              <a:rPr baseline="-25000" b="0" sz="1500">
                <a:solidFill>
                  <a:srgbClr val="2B3648"/>
                </a:solidFill>
              </a:rPr>
              <a:t>cre</a:t>
            </a:r>
            <a:r>
              <a:rPr b="0" sz="1500">
                <a:solidFill>
                  <a:srgbClr val="2B3648"/>
                </a:solidFill>
              </a:rPr>
              <a:t> with K, L from §10.2, §10.3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3694481"/>
            <a:ext cx="5181600" cy="1972756"/>
          </a:xfrm>
          <a:prstGeom prst="rect">
            <a:avLst/>
          </a:prstGeom>
          <a:solidFill>
            <a:srgbClr val="EEF1F5"/>
          </a:solidFill>
          <a:ln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3920" y="3749345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0E2841"/>
                </a:solidFill>
              </a:rPr>
              <a:t>Local + global (8.2-5, 8.2-6)</a:t>
            </a:r>
          </a:p>
        </p:txBody>
      </p:sp>
      <p:pic>
        <p:nvPicPr>
          <p:cNvPr id="9" name="Picture 8" descr="pn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" y="4169969"/>
            <a:ext cx="4815840" cy="8480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83920" y="5091165"/>
            <a:ext cx="509016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b="0" sz="1500">
                <a:solidFill>
                  <a:srgbClr val="2B3648"/>
                </a:solidFill>
              </a:rPr>
              <a:t>P</a:t>
            </a:r>
            <a:r>
              <a:rPr baseline="-25000" b="0" sz="1500">
                <a:solidFill>
                  <a:srgbClr val="2B3648"/>
                </a:solidFill>
              </a:rPr>
              <a:t>nlg</a:t>
            </a:r>
            <a:r>
              <a:rPr b="0" sz="1500">
                <a:solidFill>
                  <a:srgbClr val="2B3648"/>
                </a:solidFill>
              </a:rPr>
              <a:t> = P</a:t>
            </a:r>
            <a:r>
              <a:rPr baseline="-25000" b="0" sz="1500">
                <a:solidFill>
                  <a:srgbClr val="2B3648"/>
                </a:solidFill>
              </a:rPr>
              <a:t>ne</a:t>
            </a:r>
            <a:r>
              <a:rPr b="0" sz="1500">
                <a:solidFill>
                  <a:srgbClr val="2B3648"/>
                </a:solidFill>
              </a:rPr>
              <a:t> if Q ≥ 1 (split out as its own equation in 2023)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642745"/>
            <a:ext cx="5181600" cy="1760220"/>
          </a:xfrm>
          <a:prstGeom prst="rect">
            <a:avLst/>
          </a:prstGeom>
          <a:solidFill>
            <a:srgbClr val="EEF1F5"/>
          </a:solidFill>
          <a:ln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697609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0E2841"/>
                </a:solidFill>
              </a:rPr>
              <a:t>Distortional + global (8.2-7, 8.2-8)</a:t>
            </a:r>
          </a:p>
        </p:txBody>
      </p:sp>
      <p:pic>
        <p:nvPicPr>
          <p:cNvPr id="13" name="Picture 12" descr="pn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118233"/>
            <a:ext cx="4666488" cy="8641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17920" y="3055493"/>
            <a:ext cx="509016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b="0" sz="1500">
                <a:solidFill>
                  <a:srgbClr val="2B3648"/>
                </a:solidFill>
              </a:rPr>
              <a:t>for λ</a:t>
            </a:r>
            <a:r>
              <a:rPr baseline="-25000" b="0" sz="1500">
                <a:solidFill>
                  <a:srgbClr val="2B3648"/>
                </a:solidFill>
              </a:rPr>
              <a:t>d</a:t>
            </a:r>
            <a:r>
              <a:rPr b="0" sz="1500">
                <a:solidFill>
                  <a:srgbClr val="2B3648"/>
                </a:solidFill>
              </a:rPr>
              <a:t> = √(P</a:t>
            </a:r>
            <a:r>
              <a:rPr baseline="-25000" b="0" sz="1500">
                <a:solidFill>
                  <a:srgbClr val="2B3648"/>
                </a:solidFill>
              </a:rPr>
              <a:t>ne</a:t>
            </a:r>
            <a:r>
              <a:rPr b="0" sz="1500">
                <a:solidFill>
                  <a:srgbClr val="2B3648"/>
                </a:solidFill>
              </a:rPr>
              <a:t> / P</a:t>
            </a:r>
            <a:r>
              <a:rPr baseline="-25000" b="0" sz="1500">
                <a:solidFill>
                  <a:srgbClr val="2B3648"/>
                </a:solidFill>
              </a:rPr>
              <a:t>crd</a:t>
            </a:r>
            <a:r>
              <a:rPr b="0" sz="1500">
                <a:solidFill>
                  <a:srgbClr val="2B3648"/>
                </a:solidFill>
              </a:rPr>
              <a:t>) &gt; 0.561, else P</a:t>
            </a:r>
            <a:r>
              <a:rPr baseline="-25000" b="0" sz="1500">
                <a:solidFill>
                  <a:srgbClr val="2B3648"/>
                </a:solidFill>
              </a:rPr>
              <a:t>nld</a:t>
            </a:r>
            <a:r>
              <a:rPr b="0" sz="1500">
                <a:solidFill>
                  <a:srgbClr val="2B3648"/>
                </a:solidFill>
              </a:rPr>
              <a:t> = P</a:t>
            </a:r>
            <a:r>
              <a:rPr baseline="-25000" b="0" sz="1500">
                <a:solidFill>
                  <a:srgbClr val="2B3648"/>
                </a:solidFill>
              </a:rPr>
              <a:t>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631565"/>
            <a:ext cx="5181600" cy="2438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b="0" sz="1600">
                <a:solidFill>
                  <a:srgbClr val="0E2841"/>
                </a:solidFill>
              </a:rPr>
              <a:t>•  </a:t>
            </a:r>
            <a:r>
              <a:rPr b="1" sz="1600">
                <a:solidFill>
                  <a:srgbClr val="0E2841"/>
                </a:solidFill>
              </a:rPr>
              <a:t>P</a:t>
            </a:r>
            <a:r>
              <a:rPr baseline="-25000" b="1" sz="1600">
                <a:solidFill>
                  <a:srgbClr val="0E2841"/>
                </a:solidFill>
              </a:rPr>
              <a:t>n</a:t>
            </a:r>
            <a:r>
              <a:rPr b="1" sz="1600">
                <a:solidFill>
                  <a:srgbClr val="0E2841"/>
                </a:solidFill>
              </a:rPr>
              <a:t> = min(P</a:t>
            </a:r>
            <a:r>
              <a:rPr baseline="-25000" b="1" sz="1600">
                <a:solidFill>
                  <a:srgbClr val="0E2841"/>
                </a:solidFill>
              </a:rPr>
              <a:t>nlg</a:t>
            </a:r>
            <a:r>
              <a:rPr b="1" sz="1600">
                <a:solidFill>
                  <a:srgbClr val="0E2841"/>
                </a:solidFill>
              </a:rPr>
              <a:t>, P</a:t>
            </a:r>
            <a:r>
              <a:rPr baseline="-25000" b="1" sz="1600">
                <a:solidFill>
                  <a:srgbClr val="0E2841"/>
                </a:solidFill>
              </a:rPr>
              <a:t>nld</a:t>
            </a:r>
            <a:r>
              <a:rPr b="1" sz="1600">
                <a:solidFill>
                  <a:srgbClr val="0E2841"/>
                </a:solidFill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948557"/>
            <a:ext cx="5181600" cy="73151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b="0" sz="1600">
                <a:solidFill>
                  <a:srgbClr val="0E2841"/>
                </a:solidFill>
              </a:rPr>
              <a:t>•  P</a:t>
            </a:r>
            <a:r>
              <a:rPr baseline="-25000" b="0" sz="1600">
                <a:solidFill>
                  <a:srgbClr val="0E2841"/>
                </a:solidFill>
              </a:rPr>
              <a:t>crd</a:t>
            </a:r>
            <a:r>
              <a:rPr b="0" sz="1600">
                <a:solidFill>
                  <a:srgbClr val="0E2841"/>
                </a:solidFill>
              </a:rPr>
              <a:t>: elastic distortional buckling "in accordance with ANSI/AISI S100" on the t</a:t>
            </a:r>
            <a:r>
              <a:rPr baseline="-25000" b="0" sz="1600">
                <a:solidFill>
                  <a:srgbClr val="0E2841"/>
                </a:solidFill>
              </a:rPr>
              <a:t>d</a:t>
            </a:r>
            <a:r>
              <a:rPr b="0" sz="1600">
                <a:solidFill>
                  <a:srgbClr val="0E2841"/>
                </a:solidFill>
              </a:rPr>
              <a:t> section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4753228"/>
            <a:ext cx="5181600" cy="2438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b="0" sz="1600">
                <a:solidFill>
                  <a:srgbClr val="0E2841"/>
                </a:solidFill>
              </a:rPr>
              <a:t>•  Hot-rolled and closed sections: P</a:t>
            </a:r>
            <a:r>
              <a:rPr baseline="-25000" b="0" sz="1600">
                <a:solidFill>
                  <a:srgbClr val="0E2841"/>
                </a:solidFill>
              </a:rPr>
              <a:t>nlg</a:t>
            </a:r>
            <a:r>
              <a:rPr b="0" sz="1600">
                <a:solidFill>
                  <a:srgbClr val="0E2841"/>
                </a:solidFill>
              </a:rPr>
              <a:t> only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11DAE-CA84-A9DC-73DC-35055A63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October 6–7,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76784-F3C3-0D34-D4B3-03B01CA6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E2841"/>
                </a:solidFill>
              </a:rPr>
              <a:t>Local buckling: still the stub column, in a new form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b="0" sz="1600"/>
              <a:t>Local buckling is </a:t>
            </a:r>
            <a:r>
              <a:rPr b="1" sz="1600"/>
              <a:t>not</a:t>
            </a:r>
            <a:r>
              <a:rPr b="0" sz="1600"/>
              <a:t> a DSM check: there is no P</a:t>
            </a:r>
            <a:r>
              <a:rPr baseline="-25000" b="0" sz="1600"/>
              <a:t>crℓ</a:t>
            </a:r>
            <a:r>
              <a:rPr b="0" sz="1600"/>
              <a:t>. The perforation and local slenderness effects both come from the </a:t>
            </a:r>
            <a:r>
              <a:rPr b="1" sz="1600"/>
              <a:t>stub-column test</a:t>
            </a:r>
            <a:r>
              <a:rPr b="0" sz="1600"/>
              <a:t> (§13.2.3, Q = P</a:t>
            </a:r>
            <a:r>
              <a:rPr baseline="-25000" b="0" sz="1600"/>
              <a:t>test</a:t>
            </a:r>
            <a:r>
              <a:rPr b="0" sz="1600"/>
              <a:t> / (F</a:t>
            </a:r>
            <a:r>
              <a:rPr baseline="-25000" b="0" sz="1600"/>
              <a:t>y</a:t>
            </a:r>
            <a:r>
              <a:rPr b="0" sz="1600"/>
              <a:t> A</a:t>
            </a:r>
            <a:r>
              <a:rPr baseline="-25000" b="0" sz="1600"/>
              <a:t>netg</a:t>
            </a:r>
            <a:r>
              <a:rPr b="0" sz="1600"/>
              <a:t>) ≤ 1, interpolated between t</a:t>
            </a:r>
            <a:r>
              <a:rPr baseline="-25000" b="0" sz="1600"/>
              <a:t>min</a:t>
            </a:r>
            <a:r>
              <a:rPr b="0" sz="1600"/>
              <a:t> and t</a:t>
            </a:r>
            <a:r>
              <a:rPr baseline="-25000" b="0" sz="1600"/>
              <a:t>max</a:t>
            </a:r>
            <a:r>
              <a:rPr b="0" sz="1600"/>
              <a:t>)</a:t>
            </a:r>
          </a:p>
          <a:p>
            <a:pPr>
              <a:spcAft>
                <a:spcPts val="400"/>
              </a:spcAft>
            </a:pPr>
            <a:r>
              <a:rPr b="0" sz="1600"/>
              <a:t>The 2021 exponent Q/(1 − Q) makes the local penalty fade as the column becomes globally slender, the same trend as the DSM local–global curve</a:t>
            </a:r>
          </a:p>
          <a:p>
            <a:pPr>
              <a:spcAft>
                <a:spcPts val="400"/>
              </a:spcAft>
            </a:pPr>
            <a:r>
              <a:rPr b="0" sz="1600"/>
              <a:t>For a given Q, the new form is less severe at intermediate λ</a:t>
            </a:r>
            <a:r>
              <a:rPr baseline="-25000" b="0" sz="1600"/>
              <a:t>c</a:t>
            </a:r>
          </a:p>
        </p:txBody>
      </p:sp>
      <p:pic>
        <p:nvPicPr>
          <p:cNvPr id="5" name="Picture 4" descr="fig_local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181600" cy="3061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4933199"/>
            <a:ext cx="518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4B5666"/>
                </a:solidFill>
              </a:rPr>
              <a:t>Both forms with F</a:t>
            </a:r>
            <a:r>
              <a:rPr baseline="-25000" b="0" sz="1100">
                <a:solidFill>
                  <a:srgbClr val="4B5666"/>
                </a:solidFill>
              </a:rPr>
              <a:t>n</a:t>
            </a:r>
            <a:r>
              <a:rPr b="0" sz="1100">
                <a:solidFill>
                  <a:srgbClr val="4B5666"/>
                </a:solidFill>
              </a:rPr>
              <a:t>/F</a:t>
            </a:r>
            <a:r>
              <a:rPr baseline="-25000" b="0" sz="1100">
                <a:solidFill>
                  <a:srgbClr val="4B5666"/>
                </a:solidFill>
              </a:rPr>
              <a:t>y</a:t>
            </a:r>
            <a:r>
              <a:rPr b="0" sz="1100">
                <a:solidFill>
                  <a:srgbClr val="4B5666"/>
                </a:solidFill>
              </a:rPr>
              <a:t> = P</a:t>
            </a:r>
            <a:r>
              <a:rPr baseline="-25000" b="0" sz="1100">
                <a:solidFill>
                  <a:srgbClr val="4B5666"/>
                </a:solidFill>
              </a:rPr>
              <a:t>ne</a:t>
            </a:r>
            <a:r>
              <a:rPr b="0" sz="1100">
                <a:solidFill>
                  <a:srgbClr val="4B5666"/>
                </a:solidFill>
              </a:rPr>
              <a:t>/P</a:t>
            </a:r>
            <a:r>
              <a:rPr baseline="-25000" b="0" sz="1100">
                <a:solidFill>
                  <a:srgbClr val="4B5666"/>
                </a:solidFill>
              </a:rPr>
              <a:t>y</a:t>
            </a:r>
            <a:r>
              <a:rPr b="0" sz="1100">
                <a:solidFill>
                  <a:srgbClr val="4B5666"/>
                </a:solidFill>
              </a:rPr>
              <a:t> on the same area basis. 2012 used A</a:t>
            </a:r>
            <a:r>
              <a:rPr baseline="-25000" b="0" sz="1100">
                <a:solidFill>
                  <a:srgbClr val="4B5666"/>
                </a:solidFill>
              </a:rPr>
              <a:t>net,min</a:t>
            </a:r>
            <a:r>
              <a:rPr b="0" sz="1100">
                <a:solidFill>
                  <a:srgbClr val="4B5666"/>
                </a:solidFill>
              </a:rPr>
              <a:t>; 2021 uses A</a:t>
            </a:r>
            <a:r>
              <a:rPr baseline="-25000" b="0" sz="1100">
                <a:solidFill>
                  <a:srgbClr val="4B5666"/>
                </a:solidFill>
              </a:rPr>
              <a:t>netg</a:t>
            </a:r>
            <a:r>
              <a:rPr b="0" sz="1100">
                <a:solidFill>
                  <a:srgbClr val="4B5666"/>
                </a:solidFill>
              </a:rPr>
              <a:t> from the strip section.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11DAE-CA84-A9DC-73DC-35055A63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October 6–7,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76784-F3C3-0D34-D4B3-03B01CA6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E2841"/>
                </a:solidFill>
              </a:rPr>
              <a:t>Distortional buckling: the Direct Strength Method piece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b="0" sz="1600"/>
              <a:t>New in 2021: an explicit distortional check with an elastic buckling load, P</a:t>
            </a:r>
            <a:r>
              <a:rPr baseline="-25000" b="0" sz="1600"/>
              <a:t>crd</a:t>
            </a:r>
            <a:r>
              <a:rPr b="0" sz="1600"/>
              <a:t> or M</a:t>
            </a:r>
            <a:r>
              <a:rPr baseline="-25000" b="0" sz="1600"/>
              <a:t>crd</a:t>
            </a:r>
            <a:r>
              <a:rPr b="0" sz="1600"/>
              <a:t>, the DSM ingredient</a:t>
            </a:r>
          </a:p>
          <a:p>
            <a:pPr>
              <a:spcAft>
                <a:spcPts val="400"/>
              </a:spcAft>
            </a:pPr>
            <a:r>
              <a:rPr b="0" sz="1600"/>
              <a:t>Same 0.25 / 0.6 coefficients and 0.561 limit as the AISI S100 distortional curve, but </a:t>
            </a:r>
            <a:r>
              <a:rPr b="1" sz="1600"/>
              <a:t>anchored at P</a:t>
            </a:r>
            <a:r>
              <a:rPr baseline="-25000" b="1" sz="1600"/>
              <a:t>ne</a:t>
            </a:r>
            <a:r>
              <a:rPr b="1" sz="1600"/>
              <a:t> instead of P</a:t>
            </a:r>
            <a:r>
              <a:rPr baseline="-25000" b="1" sz="1600"/>
              <a:t>y</a:t>
            </a:r>
          </a:p>
          <a:p>
            <a:pPr>
              <a:spcAft>
                <a:spcPts val="400"/>
              </a:spcAft>
            </a:pPr>
            <a:r>
              <a:rPr b="0" sz="1600"/>
              <a:t>That captures distortional–global interaction, which tests and FE studies on perforated uprights showed (Casafont, Pastor, Roure, Bonada, Peköz)</a:t>
            </a:r>
          </a:p>
          <a:p>
            <a:pPr>
              <a:spcAft>
                <a:spcPts val="400"/>
              </a:spcAft>
            </a:pPr>
            <a:r>
              <a:rPr b="0" sz="1600"/>
              <a:t>At λ</a:t>
            </a:r>
            <a:r>
              <a:rPr baseline="-25000" b="0" sz="1600"/>
              <a:t>c</a:t>
            </a:r>
            <a:r>
              <a:rPr b="0" sz="1600"/>
              <a:t> = 0 the two agree; at intermediate slenderness MH16.1 is lower, and both reach P</a:t>
            </a:r>
            <a:r>
              <a:rPr baseline="-25000" b="0" sz="1600"/>
              <a:t>ne</a:t>
            </a:r>
            <a:r>
              <a:rPr b="0" sz="1600"/>
              <a:t> for slender columns</a:t>
            </a:r>
          </a:p>
        </p:txBody>
      </p:sp>
      <p:pic>
        <p:nvPicPr>
          <p:cNvPr id="4" name="Picture 3" descr="fig_dist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25625"/>
            <a:ext cx="5181600" cy="30618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72200" y="4933199"/>
            <a:ext cx="518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4B5666"/>
                </a:solidFill>
              </a:rPr>
              <a:t>Example with P</a:t>
            </a:r>
            <a:r>
              <a:rPr baseline="-25000" b="0" sz="1100">
                <a:solidFill>
                  <a:srgbClr val="4B5666"/>
                </a:solidFill>
              </a:rPr>
              <a:t>crd</a:t>
            </a:r>
            <a:r>
              <a:rPr b="0" sz="1100">
                <a:solidFill>
                  <a:srgbClr val="4B5666"/>
                </a:solidFill>
              </a:rPr>
              <a:t> = 0.6 P</a:t>
            </a:r>
            <a:r>
              <a:rPr baseline="-25000" b="0" sz="1100">
                <a:solidFill>
                  <a:srgbClr val="4B5666"/>
                </a:solidFill>
              </a:rPr>
              <a:t>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11DAE-CA84-A9DC-73DC-35055A63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October 6–7,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76784-F3C3-0D34-D4B3-03B01CA6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E2841"/>
                </a:solidFill>
              </a:rPr>
              <a:t>Finite strip analysis on the strip section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b="0" sz="1600"/>
              <a:t>Commentary C8: the "most suitable design approach would be to use finite strip analysis combined with the expressions given"</a:t>
            </a:r>
          </a:p>
          <a:p>
            <a:pPr>
              <a:spcAft>
                <a:spcPts val="400"/>
              </a:spcAft>
            </a:pPr>
            <a:r>
              <a:rPr b="0" sz="1600"/>
              <a:t>Workflow</a:t>
            </a:r>
          </a:p>
          <a:p>
            <a:pPr lvl="1">
              <a:spcAft>
                <a:spcPts val="200"/>
              </a:spcAft>
            </a:pPr>
            <a:r>
              <a:rPr b="0" sz="1400"/>
              <a:t>build the round-corner section with t</a:t>
            </a:r>
            <a:r>
              <a:rPr baseline="-25000" b="0" sz="1400"/>
              <a:t>d</a:t>
            </a:r>
            <a:r>
              <a:rPr b="0" sz="1400"/>
              <a:t> in the perforated strips</a:t>
            </a:r>
          </a:p>
          <a:p>
            <a:pPr lvl="1">
              <a:spcAft>
                <a:spcPts val="200"/>
              </a:spcAft>
            </a:pPr>
            <a:r>
              <a:rPr b="0" sz="1400"/>
              <a:t>run CUFSM (or any S100 Appendix 2 analysis)</a:t>
            </a:r>
          </a:p>
          <a:p>
            <a:pPr lvl="1">
              <a:spcAft>
                <a:spcPts val="200"/>
              </a:spcAft>
            </a:pPr>
            <a:r>
              <a:rPr b="0" sz="1400"/>
              <a:t>read P</a:t>
            </a:r>
            <a:r>
              <a:rPr baseline="-25000" b="0" sz="1400"/>
              <a:t>crd</a:t>
            </a:r>
            <a:r>
              <a:rPr b="0" sz="1400"/>
              <a:t> at the distortional minimum</a:t>
            </a:r>
          </a:p>
          <a:p>
            <a:pPr lvl="1">
              <a:spcAft>
                <a:spcPts val="200"/>
              </a:spcAft>
            </a:pPr>
            <a:r>
              <a:rPr b="0" sz="1400"/>
              <a:t>the same model with t</a:t>
            </a:r>
            <a:r>
              <a:rPr baseline="-25000" b="0" sz="1400"/>
              <a:t>g</a:t>
            </a:r>
            <a:r>
              <a:rPr b="0" sz="1400"/>
              <a:t> gives the global section properties</a:t>
            </a:r>
          </a:p>
          <a:p>
            <a:pPr>
              <a:spcAft>
                <a:spcPts val="400"/>
              </a:spcAft>
            </a:pPr>
            <a:r>
              <a:rPr b="0" sz="1600"/>
              <a:t>Basis: tests, shell FE and FSM studies on perforated uprights (Casafont et al., ASCE J. Struct. Eng. 2013, "Design of steel storage rack columns via the Direct Strength Method")</a:t>
            </a:r>
          </a:p>
        </p:txBody>
      </p:sp>
      <p:pic>
        <p:nvPicPr>
          <p:cNvPr id="5" name="Picture 4" descr="fig_cu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181600" cy="210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3978625"/>
            <a:ext cx="518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4B5666"/>
                </a:solidFill>
              </a:rPr>
              <a:t>Source: ANSI MH16.1-2023 Commentary, Figure C8.2-5. CUFSM: local minimum at 80 mm (load factor 14.92), distortional at 700 mm (10.63)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11DAE-CA84-A9DC-73DC-35055A63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October 6–7,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76784-F3C3-0D34-D4B3-03B01CA6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E2841"/>
                </a:solidFill>
              </a:rPr>
              <a:t>MH16.1-2021/2023 §8.2.3: flexure follows the same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825625"/>
            <a:ext cx="5181600" cy="1914842"/>
          </a:xfrm>
          <a:prstGeom prst="rect">
            <a:avLst/>
          </a:prstGeom>
          <a:solidFill>
            <a:srgbClr val="EEF1F5"/>
          </a:solidFill>
          <a:ln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3920" y="1880489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0E2841"/>
                </a:solidFill>
              </a:rPr>
              <a:t>Local + global (8.2-9, 8.2-10)</a:t>
            </a:r>
          </a:p>
        </p:txBody>
      </p:sp>
      <p:pic>
        <p:nvPicPr>
          <p:cNvPr id="5" name="Picture 4" descr="mnl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0" y="2301113"/>
            <a:ext cx="4815840" cy="790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3920" y="3164395"/>
            <a:ext cx="509016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b="0" sz="1500">
                <a:solidFill>
                  <a:srgbClr val="2B3648"/>
                </a:solidFill>
              </a:rPr>
              <a:t>M</a:t>
            </a:r>
            <a:r>
              <a:rPr baseline="-25000" b="0" sz="1500">
                <a:solidFill>
                  <a:srgbClr val="2B3648"/>
                </a:solidFill>
              </a:rPr>
              <a:t>y</a:t>
            </a:r>
            <a:r>
              <a:rPr b="0" sz="1500">
                <a:solidFill>
                  <a:srgbClr val="2B3648"/>
                </a:solidFill>
              </a:rPr>
              <a:t> = F</a:t>
            </a:r>
            <a:r>
              <a:rPr baseline="-25000" b="0" sz="1500">
                <a:solidFill>
                  <a:srgbClr val="2B3648"/>
                </a:solidFill>
              </a:rPr>
              <a:t>y</a:t>
            </a:r>
            <a:r>
              <a:rPr b="0" sz="1500">
                <a:solidFill>
                  <a:srgbClr val="2B3648"/>
                </a:solidFill>
              </a:rPr>
              <a:t> S</a:t>
            </a:r>
            <a:r>
              <a:rPr baseline="-25000" b="0" sz="1500">
                <a:solidFill>
                  <a:srgbClr val="2B3648"/>
                </a:solidFill>
              </a:rPr>
              <a:t>fy</a:t>
            </a:r>
            <a:r>
              <a:rPr b="0" sz="1500">
                <a:solidFill>
                  <a:srgbClr val="2B3648"/>
                </a:solidFill>
              </a:rPr>
              <a:t>, with S</a:t>
            </a:r>
            <a:r>
              <a:rPr baseline="-25000" b="0" sz="1500">
                <a:solidFill>
                  <a:srgbClr val="2B3648"/>
                </a:solidFill>
              </a:rPr>
              <a:t>fy</a:t>
            </a:r>
            <a:r>
              <a:rPr b="0" sz="1500">
                <a:solidFill>
                  <a:srgbClr val="2B3648"/>
                </a:solidFill>
              </a:rPr>
              <a:t> on the reduced-thickness section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825625"/>
            <a:ext cx="5181600" cy="1728606"/>
          </a:xfrm>
          <a:prstGeom prst="rect">
            <a:avLst/>
          </a:prstGeom>
          <a:solidFill>
            <a:srgbClr val="EEF1F5"/>
          </a:solidFill>
          <a:ln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880489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0E2841"/>
                </a:solidFill>
              </a:rPr>
              <a:t>Distortional + global (8.2-11, 8.2-12)</a:t>
            </a:r>
          </a:p>
        </p:txBody>
      </p:sp>
      <p:pic>
        <p:nvPicPr>
          <p:cNvPr id="9" name="Picture 8" descr="mn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301113"/>
            <a:ext cx="4815840" cy="8324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3206759"/>
            <a:ext cx="509016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b="0" sz="1500">
                <a:solidFill>
                  <a:srgbClr val="2B3648"/>
                </a:solidFill>
              </a:rPr>
              <a:t>for λ</a:t>
            </a:r>
            <a:r>
              <a:rPr baseline="-25000" b="0" sz="1500">
                <a:solidFill>
                  <a:srgbClr val="2B3648"/>
                </a:solidFill>
              </a:rPr>
              <a:t>d</a:t>
            </a:r>
            <a:r>
              <a:rPr b="0" sz="1500">
                <a:solidFill>
                  <a:srgbClr val="2B3648"/>
                </a:solidFill>
              </a:rPr>
              <a:t> = √(M</a:t>
            </a:r>
            <a:r>
              <a:rPr baseline="-25000" b="0" sz="1500">
                <a:solidFill>
                  <a:srgbClr val="2B3648"/>
                </a:solidFill>
              </a:rPr>
              <a:t>ne</a:t>
            </a:r>
            <a:r>
              <a:rPr b="0" sz="1500">
                <a:solidFill>
                  <a:srgbClr val="2B3648"/>
                </a:solidFill>
              </a:rPr>
              <a:t> / M</a:t>
            </a:r>
            <a:r>
              <a:rPr baseline="-25000" b="0" sz="1500">
                <a:solidFill>
                  <a:srgbClr val="2B3648"/>
                </a:solidFill>
              </a:rPr>
              <a:t>crd</a:t>
            </a:r>
            <a:r>
              <a:rPr b="0" sz="1500">
                <a:solidFill>
                  <a:srgbClr val="2B3648"/>
                </a:solidFill>
              </a:rPr>
              <a:t>) &gt; 0.673, else M</a:t>
            </a:r>
            <a:r>
              <a:rPr baseline="-25000" b="0" sz="1500">
                <a:solidFill>
                  <a:srgbClr val="2B3648"/>
                </a:solidFill>
              </a:rPr>
              <a:t>nld</a:t>
            </a:r>
            <a:r>
              <a:rPr b="0" sz="1500">
                <a:solidFill>
                  <a:srgbClr val="2B3648"/>
                </a:solidFill>
              </a:rPr>
              <a:t> = M</a:t>
            </a:r>
            <a:r>
              <a:rPr baseline="-25000" b="0" sz="1500">
                <a:solidFill>
                  <a:srgbClr val="2B3648"/>
                </a:solidFill>
              </a:rPr>
              <a:t>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014787"/>
            <a:ext cx="10515600" cy="4876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b="0" sz="1600">
                <a:solidFill>
                  <a:srgbClr val="0E2841"/>
                </a:solidFill>
              </a:rPr>
              <a:t>•  M</a:t>
            </a:r>
            <a:r>
              <a:rPr baseline="-25000" b="0" sz="1600">
                <a:solidFill>
                  <a:srgbClr val="0E2841"/>
                </a:solidFill>
              </a:rPr>
              <a:t>n</a:t>
            </a:r>
            <a:r>
              <a:rPr b="0" sz="1600">
                <a:solidFill>
                  <a:srgbClr val="0E2841"/>
                </a:solidFill>
              </a:rPr>
              <a:t> = min(M</a:t>
            </a:r>
            <a:r>
              <a:rPr baseline="-25000" b="0" sz="1600">
                <a:solidFill>
                  <a:srgbClr val="0E2841"/>
                </a:solidFill>
              </a:rPr>
              <a:t>nlg</a:t>
            </a:r>
            <a:r>
              <a:rPr b="0" sz="1600">
                <a:solidFill>
                  <a:srgbClr val="0E2841"/>
                </a:solidFill>
              </a:rPr>
              <a:t>, M</a:t>
            </a:r>
            <a:r>
              <a:rPr baseline="-25000" b="0" sz="1600">
                <a:solidFill>
                  <a:srgbClr val="0E2841"/>
                </a:solidFill>
              </a:rPr>
              <a:t>nld</a:t>
            </a:r>
            <a:r>
              <a:rPr b="0" sz="1600">
                <a:solidFill>
                  <a:srgbClr val="0E2841"/>
                </a:solidFill>
              </a:rPr>
              <a:t>) for open cold-formed sections bending about the axis of symmetry; hot-rolled and closed sections use M</a:t>
            </a:r>
            <a:r>
              <a:rPr baseline="-25000" b="0" sz="1600">
                <a:solidFill>
                  <a:srgbClr val="0E2841"/>
                </a:solidFill>
              </a:rPr>
              <a:t>nlg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575619"/>
            <a:ext cx="10515600" cy="2438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b="0" sz="1600">
                <a:solidFill>
                  <a:srgbClr val="0E2841"/>
                </a:solidFill>
              </a:rPr>
              <a:t>•  The coefficients match the AISI S100 flexural distortional curve, anchored at M</a:t>
            </a:r>
            <a:r>
              <a:rPr baseline="-25000" b="0" sz="1600">
                <a:solidFill>
                  <a:srgbClr val="0E2841"/>
                </a:solidFill>
              </a:rPr>
              <a:t>ne</a:t>
            </a:r>
            <a:r>
              <a:rPr b="0" sz="1600">
                <a:solidFill>
                  <a:srgbClr val="0E2841"/>
                </a:solidFill>
              </a:rPr>
              <a:t> like compression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892611"/>
            <a:ext cx="10515600" cy="2438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b="0" sz="1600">
                <a:solidFill>
                  <a:srgbClr val="0E2841"/>
                </a:solidFill>
              </a:rPr>
              <a:t>•  M</a:t>
            </a:r>
            <a:r>
              <a:rPr baseline="-25000" b="0" sz="1600">
                <a:solidFill>
                  <a:srgbClr val="0E2841"/>
                </a:solidFill>
              </a:rPr>
              <a:t>crd</a:t>
            </a:r>
            <a:r>
              <a:rPr b="0" sz="1600">
                <a:solidFill>
                  <a:srgbClr val="0E2841"/>
                </a:solidFill>
              </a:rPr>
              <a:t> comes from finite strip analysis on the t</a:t>
            </a:r>
            <a:r>
              <a:rPr baseline="-25000" b="0" sz="1600">
                <a:solidFill>
                  <a:srgbClr val="0E2841"/>
                </a:solidFill>
              </a:rPr>
              <a:t>d</a:t>
            </a:r>
            <a:r>
              <a:rPr b="0" sz="1600">
                <a:solidFill>
                  <a:srgbClr val="0E2841"/>
                </a:solidFill>
              </a:rPr>
              <a:t> section, as for P</a:t>
            </a:r>
            <a:r>
              <a:rPr baseline="-25000" b="0" sz="1600">
                <a:solidFill>
                  <a:srgbClr val="0E2841"/>
                </a:solidFill>
              </a:rPr>
              <a:t>crd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11DAE-CA84-A9DC-73DC-35055A63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October 6–7,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76784-F3C3-0D34-D4B3-03B01CA6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E2841"/>
                </a:solidFill>
              </a:rPr>
              <a:t>MH16.1-2021: from effective length to direct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b="1" sz="1600"/>
              <a:t>§7.2: second-order analysis with notional loads</a:t>
            </a:r>
            <a:r>
              <a:rPr b="0" sz="1600"/>
              <a:t> replaces the effective length method</a:t>
            </a:r>
          </a:p>
          <a:p>
            <a:pPr lvl="1">
              <a:spcAft>
                <a:spcPts val="200"/>
              </a:spcAft>
            </a:pPr>
            <a:r>
              <a:rPr b="0" sz="1400"/>
              <a:t>N</a:t>
            </a:r>
            <a:r>
              <a:rPr baseline="-25000" b="0" sz="1400"/>
              <a:t>i</a:t>
            </a:r>
            <a:r>
              <a:rPr b="0" sz="1400"/>
              <a:t> = 0.004 αY</a:t>
            </a:r>
            <a:r>
              <a:rPr baseline="-25000" b="0" sz="1400"/>
              <a:t>i</a:t>
            </a:r>
            <a:r>
              <a:rPr b="0" sz="1400"/>
              <a:t> with the stiffness reduction τ</a:t>
            </a:r>
            <a:r>
              <a:rPr baseline="-25000" b="0" sz="1400"/>
              <a:t>b</a:t>
            </a:r>
            <a:r>
              <a:rPr b="0" sz="1400"/>
              <a:t>, or 0.005 αY</a:t>
            </a:r>
            <a:r>
              <a:rPr baseline="-25000" b="0" sz="1400"/>
              <a:t>i</a:t>
            </a:r>
            <a:r>
              <a:rPr b="0" sz="1400"/>
              <a:t> without; minimum 0.002 αY</a:t>
            </a:r>
            <a:r>
              <a:rPr baseline="-25000" b="0" sz="1400"/>
              <a:t>i</a:t>
            </a:r>
          </a:p>
          <a:p>
            <a:pPr lvl="1">
              <a:spcAft>
                <a:spcPts val="200"/>
              </a:spcAft>
            </a:pPr>
            <a:r>
              <a:rPr b="0" sz="1400"/>
              <a:t>B</a:t>
            </a:r>
            <a:r>
              <a:rPr baseline="-25000" b="0" sz="1400"/>
              <a:t>2</a:t>
            </a:r>
            <a:r>
              <a:rPr b="0" sz="1400"/>
              <a:t> = 1 / (1 − α P</a:t>
            </a:r>
            <a:r>
              <a:rPr baseline="-25000" b="0" sz="1400"/>
              <a:t>Δ</a:t>
            </a:r>
            <a:r>
              <a:rPr b="0" sz="1400"/>
              <a:t> / (R</a:t>
            </a:r>
            <a:r>
              <a:rPr baseline="-25000" b="0" sz="1400"/>
              <a:t>m</a:t>
            </a:r>
            <a:r>
              <a:rPr b="0" sz="1400"/>
              <a:t> H L))</a:t>
            </a:r>
          </a:p>
          <a:p>
            <a:pPr lvl="1">
              <a:spcAft>
                <a:spcPts val="200"/>
              </a:spcAft>
            </a:pPr>
            <a:r>
              <a:rPr b="0" sz="1400"/>
              <a:t>semi-rigid beam-to-column connections modeled with springs</a:t>
            </a:r>
          </a:p>
          <a:p>
            <a:pPr>
              <a:spcAft>
                <a:spcPts val="400"/>
              </a:spcAft>
            </a:pPr>
            <a:r>
              <a:rPr b="0" sz="1600"/>
              <a:t>Down-aisle K</a:t>
            </a:r>
            <a:r>
              <a:rPr baseline="-25000" b="0" sz="1600"/>
              <a:t>x</a:t>
            </a:r>
            <a:r>
              <a:rPr b="0" sz="1600"/>
              <a:t> = 1.0 (§10.2.1)</a:t>
            </a:r>
          </a:p>
          <a:p>
            <a:pPr>
              <a:spcAft>
                <a:spcPts val="400"/>
              </a:spcAft>
            </a:pPr>
            <a:r>
              <a:rPr b="0" sz="1600"/>
              <a:t>Member and frame models use the same hole-reduced section properties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b="1" sz="1600"/>
              <a:t>Connectors from cyclic tests</a:t>
            </a:r>
            <a:r>
              <a:rPr b="0" sz="1600"/>
              <a:t> (§13.5): design moment 0.75 M</a:t>
            </a:r>
            <a:r>
              <a:rPr baseline="-25000" b="0" sz="1600"/>
              <a:t>max</a:t>
            </a:r>
            <a:r>
              <a:rPr b="0" sz="1600"/>
              <a:t>; stiffness is the secant at 0.8 M</a:t>
            </a:r>
            <a:r>
              <a:rPr baseline="-25000" b="0" sz="1600"/>
              <a:t>conn,d</a:t>
            </a:r>
          </a:p>
          <a:p>
            <a:pPr>
              <a:spcAft>
                <a:spcPts val="400"/>
              </a:spcAft>
            </a:pPr>
            <a:r>
              <a:rPr b="0" sz="1600"/>
              <a:t>New tests: base fixity (§13.6) and frame bracing (§13.7); portal and upright frame tests removed</a:t>
            </a:r>
          </a:p>
          <a:p>
            <a:pPr>
              <a:spcAft>
                <a:spcPts val="400"/>
              </a:spcAft>
            </a:pPr>
            <a:r>
              <a:rPr b="0" sz="1600"/>
              <a:t>Seismic aligned to ASCE 7-16; redundancy factor for multiple rows; overstrength design of base plates and anchors (§11.3)</a:t>
            </a:r>
          </a:p>
          <a:p>
            <a:pPr>
              <a:spcAft>
                <a:spcPts val="400"/>
              </a:spcAft>
            </a:pPr>
            <a:r>
              <a:rPr b="0" sz="1600"/>
              <a:t>ISO-style reorganization of the whole document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11DAE-CA84-A9DC-73DC-35055A63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October 6–7,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76784-F3C3-0D34-D4B3-03B01CA6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solidFill>
                  <a:srgbClr val="0E2841"/>
                </a:solidFill>
              </a:rPr>
              <a:t>Recent updates to ANSI MH16.1: perforated rack member design and the Direct Strength Method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0" sz="2200">
                <a:solidFill>
                  <a:srgbClr val="0E2841"/>
                </a:solidFill>
              </a:rPr>
              <a:t>Cristopher D. Moen</a:t>
            </a:r>
          </a:p>
          <a:p>
            <a:r>
              <a:rPr b="0" sz="1800">
                <a:solidFill>
                  <a:srgbClr val="4B5666"/>
                </a:solidFill>
              </a:rPr>
              <a:t>RunToSolve LLC</a:t>
            </a:r>
          </a:p>
          <a:p>
            <a:r>
              <a:rPr b="0" sz="1400">
                <a:solidFill>
                  <a:srgbClr val="4B5666"/>
                </a:solidFill>
              </a:rPr>
              <a:t>Wei-Wen Yu International Specialty Conference on Cold-Formed Steel Structures, Madison, Wisconsin</a:t>
            </a:r>
          </a:p>
        </p:txBody>
      </p:sp>
      <p:pic>
        <p:nvPicPr>
          <p:cNvPr id="4" name="Picture 3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512064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644652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900">
                <a:solidFill>
                  <a:srgbClr val="4B5666"/>
                </a:solidFill>
              </a:rPr>
              <a:t>runtosolve.github.io/ICCFSS2026_MoenRackStandards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887CD-A8EA-B243-A004-166ECEDEE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October 6–7,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Sabrina L Bradshaw</dc:creator>
  <cp:lastModifiedBy>Sabrina L Bradshaw</cp:lastModifiedBy>
  <cp:revision>10</cp:revision>
  <dcterms:created xsi:type="dcterms:W3CDTF">2026-09-15T17:16:37Z</dcterms:created>
  <dcterms:modified xsi:type="dcterms:W3CDTF">2026-09-15T18:54:17Z</dcterms:modified>
</cp:coreProperties>
</file>